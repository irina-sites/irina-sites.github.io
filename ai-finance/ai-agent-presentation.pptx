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000">
          <a:solidFill>
            <a:schemeClr val="tx1"/>
          </a:solidFill>
          <a:latin typeface="+mj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defPPr>
        <a:defRPr lang="ru-RU"/>
      </a:def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chart.jp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" name="eyebrow"/>
          <p:cNvSpPr>
            <a:spLocks noGrp="1"/>
          </p:cNvSpPr>
          <p:nvPr/>
        </p:nvSpPr>
        <p:spPr>
          <a:xfrm>
            <a:off x="760000" y="1950000"/>
            <a:ext cx="9000000" cy="45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ru-RU" sz="1400" b="1" spc="300" dirty="0">
                <a:solidFill>
                  <a:schemeClr val="accent1"/>
                </a:solidFill>
              </a:rPr>
              <a:t>ИИ-АГЕНТ · ЛИЧНЫЕ ФИНАНСЫ</a:t>
            </a: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740000" y="2350000"/>
            <a:ext cx="10800000" cy="155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ru-RU" sz="5400" b="1" dirty="0">
                <a:solidFill>
                  <a:schemeClr val="tx1"/>
                </a:solidFill>
              </a:rPr>
              <a:t>ИИ-агент личных финансов</a:t>
            </a:r>
          </a:p>
        </p:txBody>
      </p:sp>
      <p:sp>
        <p:nvSpPr>
          <p:cNvPr id="5" name="bar"/>
          <p:cNvSpPr/>
          <p:nvPr/>
        </p:nvSpPr>
        <p:spPr>
          <a:xfrm>
            <a:off x="760000" y="3980000"/>
            <a:ext cx="2100000" cy="6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ubtitle"/>
          <p:cNvSpPr>
            <a:spLocks noGrp="1"/>
          </p:cNvSpPr>
          <p:nvPr/>
        </p:nvSpPr>
        <p:spPr>
          <a:xfrm>
            <a:off x="760000" y="4180000"/>
            <a:ext cx="10000000" cy="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ru-RU" sz="2400" dirty="0">
                <a:solidFill>
                  <a:srgbClr val="54606A"/>
                </a:solidFill>
              </a:rPr>
              <a:t>Проект по модулю «ИИ-помощник»</a:t>
            </a:r>
          </a:p>
        </p:txBody>
      </p:sp>
      <p:sp>
        <p:nvSpPr>
          <p:cNvPr id="7" name="footer"/>
          <p:cNvSpPr>
            <a:spLocks noGrp="1"/>
          </p:cNvSpPr>
          <p:nvPr/>
        </p:nvSpPr>
        <p:spPr>
          <a:xfrm>
            <a:off x="760000" y="6050000"/>
            <a:ext cx="10000000" cy="5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ru-RU" sz="1400" dirty="0">
                <a:solidFill>
                  <a:srgbClr val="8A959C"/>
                </a:solidFill>
              </a:rPr>
              <a:t>Автор: ________________________          Сентябрь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700000" y="430000"/>
            <a:ext cx="10800000" cy="95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ru-RU" sz="3200" b="1" dirty="0">
                <a:solidFill>
                  <a:schemeClr val="accent1"/>
                </a:solidFill>
              </a:rPr>
              <a:t>Что такое ИИ-агент</a:t>
            </a:r>
          </a:p>
        </p:txBody>
      </p:sp>
      <p:sp>
        <p:nvSpPr>
          <p:cNvPr id="3" name="bar"/>
          <p:cNvSpPr/>
          <p:nvPr/>
        </p:nvSpPr>
        <p:spPr>
          <a:xfrm>
            <a:off x="720000" y="1330000"/>
            <a:ext cx="1500000" cy="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760000" y="1650000"/>
            <a:ext cx="10600000" cy="4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ru-RU" sz="2200" dirty="0">
                <a:solidFill>
                  <a:schemeClr val="tx1"/>
                </a:solidFill>
              </a:rPr>
              <a:t>ИИ-агент получает от пользователя цель и сам выстраивает путь к её достижению. Он умеет:</a:t>
            </a:r>
          </a:p>
          <a:p>
            <a:pPr marL="457200" indent="-457200">
              <a:spcBef>
                <a:spcPts val="10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000" dirty="0"/>
              <a:t>воспринимать входные данные;</a:t>
            </a: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000" dirty="0"/>
              <a:t>рассуждать над задачей;</a:t>
            </a: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000" dirty="0"/>
              <a:t>использовать инструменты — подсчёты и построение диаграмм;</a:t>
            </a: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000" dirty="0"/>
              <a:t>выдавать готовый результат.</a:t>
            </a:r>
          </a:p>
          <a:p>
            <a:pPr>
              <a:spcBef>
                <a:spcPts val="1200"/>
              </a:spcBef>
              <a:buNone/>
            </a:pPr>
            <a:r>
              <a:rPr lang="ru-RU" sz="2000" b="1" dirty="0">
                <a:solidFill>
                  <a:schemeClr val="accent1"/>
                </a:solidFill>
              </a:rPr>
              <a:t>Именно это отличает агента от обычного чат-бота «вопрос — ответ».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700000" y="430000"/>
            <a:ext cx="10800000" cy="95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ru-RU" sz="3200" b="1" dirty="0">
                <a:solidFill>
                  <a:schemeClr val="accent1"/>
                </a:solidFill>
              </a:rPr>
              <a:t>Архитектура агента</a:t>
            </a:r>
          </a:p>
        </p:txBody>
      </p:sp>
      <p:sp>
        <p:nvSpPr>
          <p:cNvPr id="3" name="bar"/>
          <p:cNvSpPr/>
          <p:nvPr/>
        </p:nvSpPr>
        <p:spPr>
          <a:xfrm>
            <a:off x="720000" y="1330000"/>
            <a:ext cx="1500000" cy="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760000" y="1620000"/>
            <a:ext cx="10600000" cy="4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457200" indent="-457200">
              <a:spcBef>
                <a:spcPts val="6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000" b="1" dirty="0"/>
              <a:t>Цель</a:t>
            </a:r>
            <a:r>
              <a:rPr lang="ru-RU" sz="2000" dirty="0"/>
              <a:t> — «разбери мои траты и подскажи, где сэкономить».</a:t>
            </a: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000" b="1" dirty="0"/>
              <a:t>Восприятие</a:t>
            </a:r>
            <a:r>
              <a:rPr lang="ru-RU" sz="2000" dirty="0"/>
              <a:t> — чтение списка трат в свободной текстовой форме.</a:t>
            </a: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000" b="1" dirty="0"/>
              <a:t>Рассуждение</a:t>
            </a:r>
            <a:r>
              <a:rPr lang="ru-RU" sz="2000" dirty="0"/>
              <a:t> — языковая модель определяет категории и ищет закономерности.</a:t>
            </a: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000" b="1" dirty="0"/>
              <a:t>Инструменты</a:t>
            </a:r>
            <a:r>
              <a:rPr lang="ru-RU" sz="2000" dirty="0"/>
              <a:t> — подсчёт итогов по категориям и построение диаграммы.</a:t>
            </a: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000" b="1" dirty="0"/>
              <a:t>Планирование</a:t>
            </a:r>
            <a:r>
              <a:rPr lang="ru-RU" sz="2000" dirty="0"/>
              <a:t> — расчёт пути к цели накопления.</a:t>
            </a: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000" b="1" dirty="0"/>
              <a:t>Результат</a:t>
            </a:r>
            <a:r>
              <a:rPr lang="ru-RU" sz="2000" dirty="0"/>
              <a:t> — сводка, диаграмма и персональные советы.</a:t>
            </a: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000" b="1" dirty="0"/>
              <a:t>Устойчивость</a:t>
            </a:r>
            <a:r>
              <a:rPr lang="ru-RU" sz="2000" dirty="0"/>
              <a:t> — если модель недоступна, работает запасной разбор по ключевым словам.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700000" y="430000"/>
            <a:ext cx="10800000" cy="95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ru-RU" sz="3200" b="1" dirty="0">
                <a:solidFill>
                  <a:schemeClr val="accent1"/>
                </a:solidFill>
              </a:rPr>
              <a:t>Как работает — по шагам</a:t>
            </a:r>
          </a:p>
        </p:txBody>
      </p:sp>
      <p:sp>
        <p:nvSpPr>
          <p:cNvPr id="3" name="bar"/>
          <p:cNvSpPr/>
          <p:nvPr/>
        </p:nvSpPr>
        <p:spPr>
          <a:xfrm>
            <a:off x="720000" y="1330000"/>
            <a:ext cx="1500000" cy="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760000" y="1650000"/>
            <a:ext cx="10600000" cy="4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514350" indent="-514350">
              <a:spcBef>
                <a:spcPts val="800"/>
              </a:spcBef>
              <a:buClr>
                <a:schemeClr val="accent1"/>
              </a:buClr>
              <a:buFont typeface="+mn-lt"/>
              <a:buAutoNum type="arabicPeriod"/>
            </a:pPr>
            <a:r>
              <a:rPr lang="ru-RU" sz="2000" dirty="0"/>
              <a:t>Пользователь вставляет список трат и, по желанию, указывает цель накопления.</a:t>
            </a:r>
          </a:p>
          <a:p>
            <a:pPr marL="514350" indent="-514350">
              <a:spcBef>
                <a:spcPts val="800"/>
              </a:spcBef>
              <a:buClr>
                <a:schemeClr val="accent1"/>
              </a:buClr>
              <a:buFont typeface="+mn-lt"/>
              <a:buAutoNum type="arabicPeriod"/>
            </a:pPr>
            <a:r>
              <a:rPr lang="ru-RU" sz="2000" dirty="0"/>
              <a:t>Агент читает текст и извлекает из каждой строки название траты и сумму.</a:t>
            </a:r>
          </a:p>
          <a:p>
            <a:pPr marL="514350" indent="-514350">
              <a:spcBef>
                <a:spcPts val="800"/>
              </a:spcBef>
              <a:buClr>
                <a:schemeClr val="accent1"/>
              </a:buClr>
              <a:buFont typeface="+mn-lt"/>
              <a:buAutoNum type="arabicPeriod"/>
            </a:pPr>
            <a:r>
              <a:rPr lang="ru-RU" sz="2000" dirty="0"/>
              <a:t>Языковая модель определяет категорию каждой траты и анализирует расходы.</a:t>
            </a:r>
          </a:p>
          <a:p>
            <a:pPr marL="514350" indent="-514350">
              <a:spcBef>
                <a:spcPts val="800"/>
              </a:spcBef>
              <a:buClr>
                <a:schemeClr val="accent1"/>
              </a:buClr>
              <a:buFont typeface="+mn-lt"/>
              <a:buAutoNum type="arabicPeriod"/>
            </a:pPr>
            <a:r>
              <a:rPr lang="ru-RU" sz="2000" dirty="0"/>
              <a:t>Агент считает итоги, строит диаграмму и оценивает возможную экономию.</a:t>
            </a:r>
          </a:p>
          <a:p>
            <a:pPr marL="514350" indent="-514350">
              <a:spcBef>
                <a:spcPts val="800"/>
              </a:spcBef>
              <a:buClr>
                <a:schemeClr val="accent1"/>
              </a:buClr>
              <a:buFont typeface="+mn-lt"/>
              <a:buAutoNum type="arabicPeriod"/>
            </a:pPr>
            <a:r>
              <a:rPr lang="ru-RU" sz="2000" dirty="0"/>
              <a:t>Выдаёт персональные советы и, если задана цель, рассчитывает срок её достижения.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700000" y="430000"/>
            <a:ext cx="10800000" cy="95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ru-RU" sz="3200" b="1" dirty="0">
                <a:solidFill>
                  <a:schemeClr val="accent1"/>
                </a:solidFill>
              </a:rPr>
              <a:t>Основные функции</a:t>
            </a:r>
          </a:p>
        </p:txBody>
      </p:sp>
      <p:sp>
        <p:nvSpPr>
          <p:cNvPr id="3" name="bar"/>
          <p:cNvSpPr/>
          <p:nvPr/>
        </p:nvSpPr>
        <p:spPr>
          <a:xfrm>
            <a:off x="720000" y="1330000"/>
            <a:ext cx="1500000" cy="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760000" y="1650000"/>
            <a:ext cx="10600000" cy="48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457200" indent="-457200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100" dirty="0"/>
              <a:t>Автоматический разбор трат из текста в свободной форме.</a:t>
            </a:r>
          </a:p>
          <a:p>
            <a:pPr marL="457200" indent="-457200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100" dirty="0"/>
              <a:t>Определение категории каждой траты (продукты, кафе, транспорт, жильё и другие).</a:t>
            </a:r>
          </a:p>
          <a:p>
            <a:pPr marL="457200" indent="-457200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100" dirty="0"/>
              <a:t>Круговая диаграмма расходов по категориям с долями в процентах.</a:t>
            </a:r>
          </a:p>
          <a:p>
            <a:pPr marL="457200" indent="-457200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100" dirty="0"/>
              <a:t>Персональные советы по экономии на основе реальных цифр пользователя.</a:t>
            </a:r>
          </a:p>
          <a:p>
            <a:pPr marL="457200" indent="-457200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100" dirty="0"/>
              <a:t>Постановка цели накопления: срок, ежемесячный взнос и график накоплений.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700000" y="430000"/>
            <a:ext cx="10800000" cy="95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ru-RU" sz="3200" b="1" dirty="0">
                <a:solidFill>
                  <a:schemeClr val="accent1"/>
                </a:solidFill>
              </a:rPr>
              <a:t>Пример работы</a:t>
            </a:r>
          </a:p>
        </p:txBody>
      </p:sp>
      <p:sp>
        <p:nvSpPr>
          <p:cNvPr id="3" name="bar"/>
          <p:cNvSpPr/>
          <p:nvPr/>
        </p:nvSpPr>
        <p:spPr>
          <a:xfrm>
            <a:off x="720000" y="1330000"/>
            <a:ext cx="1500000" cy="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stats"/>
          <p:cNvSpPr>
            <a:spLocks noGrp="1"/>
          </p:cNvSpPr>
          <p:nvPr/>
        </p:nvSpPr>
        <p:spPr>
          <a:xfrm>
            <a:off x="760000" y="1720000"/>
            <a:ext cx="4300000" cy="46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457200" indent="-457200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000" dirty="0"/>
              <a:t>18 трат на сумму </a:t>
            </a:r>
            <a:r>
              <a:rPr lang="ru-RU" sz="2000" b="1" dirty="0"/>
              <a:t>56 558 ₽</a:t>
            </a:r>
          </a:p>
          <a:p>
            <a:pPr marL="457200" indent="-457200">
              <a:spcBef>
                <a:spcPts val="7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000" dirty="0"/>
              <a:t>9 категорий расходов</a:t>
            </a:r>
          </a:p>
          <a:p>
            <a:pPr marL="457200" indent="-457200">
              <a:spcBef>
                <a:spcPts val="7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000" dirty="0"/>
              <a:t>Крупнейшая статья — </a:t>
            </a:r>
            <a:r>
              <a:rPr lang="ru-RU" sz="2000" b="1" dirty="0"/>
              <a:t>Жильё, 57 %</a:t>
            </a:r>
          </a:p>
          <a:p>
            <a:pPr marL="457200" indent="-457200">
              <a:spcBef>
                <a:spcPts val="7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000" dirty="0"/>
              <a:t>Экономия </a:t>
            </a:r>
            <a:r>
              <a:rPr lang="ru-RU" sz="2000" b="1" dirty="0"/>
              <a:t>≈ 6 800 ₽/мес</a:t>
            </a:r>
          </a:p>
          <a:p>
            <a:pPr marL="457200" indent="-457200">
              <a:spcBef>
                <a:spcPts val="7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000" dirty="0"/>
              <a:t>Цель 60 000 ₽ — </a:t>
            </a:r>
            <a:r>
              <a:rPr lang="ru-RU" sz="2000" b="1" dirty="0"/>
              <a:t>≈ 9 месяцев</a:t>
            </a:r>
          </a:p>
        </p:txBody>
      </p:sp>
      <p:pic>
        <p:nvPicPr>
          <p:cNvPr id="5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000" y="2050000"/>
            <a:ext cx="6000000" cy="3391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700000" y="430000"/>
            <a:ext cx="10800000" cy="95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ru-RU" sz="3200" b="1" dirty="0">
                <a:solidFill>
                  <a:schemeClr val="accent1"/>
                </a:solidFill>
              </a:rPr>
              <a:t>Функция «Цель накопления»</a:t>
            </a:r>
          </a:p>
        </p:txBody>
      </p:sp>
      <p:sp>
        <p:nvSpPr>
          <p:cNvPr id="3" name="bar"/>
          <p:cNvSpPr/>
          <p:nvPr/>
        </p:nvSpPr>
        <p:spPr>
          <a:xfrm>
            <a:off x="720000" y="1330000"/>
            <a:ext cx="1500000" cy="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760000" y="1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ru-RU" sz="2100" dirty="0">
                <a:solidFill>
                  <a:schemeClr val="tx1"/>
                </a:solidFill>
              </a:rPr>
              <a:t>Пользователь указывает, на что и сколько копит — агент строит план:</a:t>
            </a:r>
          </a:p>
          <a:p>
            <a:pPr marL="457200" indent="-457200">
              <a:spcBef>
                <a:spcPts val="9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000" dirty="0"/>
              <a:t>рассчитывает срок достижения цели;</a:t>
            </a: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000" dirty="0"/>
              <a:t>рассчитывает рекомендуемый ежемесячный взнос;</a:t>
            </a: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000" dirty="0"/>
              <a:t>показывает график роста накоплений по месяцам;</a:t>
            </a: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2000" dirty="0"/>
              <a:t>подстраивает советы под достижение цели.</a:t>
            </a:r>
          </a:p>
        </p:txBody>
      </p:sp>
      <p:sp>
        <p:nvSpPr>
          <p:cNvPr id="5" name="callout"/>
          <p:cNvSpPr/>
          <p:nvPr/>
        </p:nvSpPr>
        <p:spPr>
          <a:xfrm>
            <a:off x="760000" y="5250000"/>
            <a:ext cx="10600000" cy="1000000"/>
          </a:xfrm>
          <a:prstGeom prst="roundRect">
            <a:avLst/>
          </a:prstGeom>
          <a:solidFill>
            <a:srgbClr val="E4F1EE"/>
          </a:solidFill>
          <a:ln>
            <a:solidFill>
              <a:schemeClr val="accent1"/>
            </a:solidFill>
          </a:ln>
        </p:spPr>
        <p:txBody>
          <a:bodyPr wrap="square" rtlCol="0" anchor="ctr" lIns="180000">
            <a:normAutofit/>
          </a:bodyPr>
          <a:lstStyle/>
          <a:p>
            <a:r>
              <a:rPr lang="ru-RU" sz="2000" b="1" dirty="0">
                <a:solidFill>
                  <a:srgbClr val="0A5C50"/>
                </a:solidFill>
              </a:rPr>
              <a:t>Пример: цель 60 000 ₽ на отпуск → 6 800 ₽ в месяц → около 9 месяцев.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700000" y="430000"/>
            <a:ext cx="10800000" cy="95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ru-RU" sz="3200" b="1" dirty="0">
                <a:solidFill>
                  <a:schemeClr val="accent1"/>
                </a:solidFill>
              </a:rPr>
              <a:t>Технологии и развитие</a:t>
            </a:r>
          </a:p>
        </p:txBody>
      </p:sp>
      <p:sp>
        <p:nvSpPr>
          <p:cNvPr id="3" name="bar"/>
          <p:cNvSpPr/>
          <p:nvPr/>
        </p:nvSpPr>
        <p:spPr>
          <a:xfrm>
            <a:off x="720000" y="1330000"/>
            <a:ext cx="1500000" cy="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col1"/>
          <p:cNvSpPr>
            <a:spLocks noGrp="1"/>
          </p:cNvSpPr>
          <p:nvPr/>
        </p:nvSpPr>
        <p:spPr>
          <a:xfrm>
            <a:off x="760000" y="1650000"/>
            <a:ext cx="5100000" cy="3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ru-RU" sz="2000" b="1" dirty="0">
                <a:solidFill>
                  <a:schemeClr val="accent1"/>
                </a:solidFill>
              </a:rPr>
              <a:t>Технологии</a:t>
            </a:r>
          </a:p>
          <a:p>
            <a:pPr marL="400050" indent="-400050">
              <a:spcBef>
                <a:spcPts val="7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1800" dirty="0"/>
              <a:t>Веб-страница (HTML, CSS, JavaScript), без установки.</a:t>
            </a:r>
          </a:p>
          <a:p>
            <a:pPr marL="400050" indent="-400050">
              <a:spcBef>
                <a:spcPts val="6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1800" dirty="0"/>
              <a:t>Языковая модель прямо в браузере (Claude sample).</a:t>
            </a:r>
          </a:p>
          <a:p>
            <a:pPr marL="400050" indent="-400050">
              <a:spcBef>
                <a:spcPts val="6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1800" dirty="0"/>
              <a:t>Запасной разбор по ключевым словам.</a:t>
            </a:r>
          </a:p>
        </p:txBody>
      </p:sp>
      <p:sp>
        <p:nvSpPr>
          <p:cNvPr id="5" name="col2"/>
          <p:cNvSpPr>
            <a:spLocks noGrp="1"/>
          </p:cNvSpPr>
          <p:nvPr/>
        </p:nvSpPr>
        <p:spPr>
          <a:xfrm>
            <a:off x="6200000" y="1650000"/>
            <a:ext cx="5100000" cy="3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ru-RU" sz="2000" b="1" dirty="0">
                <a:solidFill>
                  <a:schemeClr val="accent1"/>
                </a:solidFill>
              </a:rPr>
              <a:t>Возможное развитие</a:t>
            </a:r>
          </a:p>
          <a:p>
            <a:pPr marL="400050" indent="-400050">
              <a:spcBef>
                <a:spcPts val="7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1800" dirty="0"/>
              <a:t>Сравнение расходов с прошлым месяцем.</a:t>
            </a:r>
          </a:p>
          <a:p>
            <a:pPr marL="400050" indent="-400050">
              <a:spcBef>
                <a:spcPts val="6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1800" dirty="0"/>
              <a:t>Импорт трат из банковской выписки.</a:t>
            </a:r>
          </a:p>
          <a:p>
            <a:pPr marL="400050" indent="-400050">
              <a:spcBef>
                <a:spcPts val="600"/>
              </a:spcBef>
              <a:buClr>
                <a:schemeClr val="accent1"/>
              </a:buClr>
              <a:buFont typeface="Arial"/>
              <a:buChar char="•"/>
            </a:pPr>
            <a:r>
              <a:rPr lang="ru-RU" sz="1800" dirty="0"/>
              <a:t>Несколько целей и напоминания о прогрессе.</a:t>
            </a:r>
          </a:p>
        </p:txBody>
      </p:sp>
      <p:sp>
        <p:nvSpPr>
          <p:cNvPr id="6" name="link"/>
          <p:cNvSpPr/>
          <p:nvPr/>
        </p:nvSpPr>
        <p:spPr>
          <a:xfrm>
            <a:off x="760000" y="5750000"/>
            <a:ext cx="10600000" cy="7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ru-RU" sz="1600" dirty="0">
                <a:solidFill>
                  <a:srgbClr val="8A959C"/>
                </a:solidFill>
              </a:rPr>
              <a:t>Открыть проект: </a:t>
            </a:r>
            <a:r>
              <a:rPr lang="ru-RU" sz="1600" b="1" dirty="0">
                <a:solidFill>
                  <a:srgbClr val="0A5C50"/>
                </a:solidFill>
              </a:rPr>
              <a:t>claude.ai/code/artifact/3b96a6ab-3e58-4314-96ec-99d4a6c434cb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30414A"/>
      </a:dk2>
      <a:lt2>
        <a:srgbClr val="EEF2F3"/>
      </a:lt2>
      <a:accent1>
        <a:srgbClr val="0E7C6B"/>
      </a:accent1>
      <a:accent2>
        <a:srgbClr val="3B82C4"/>
      </a:accent2>
      <a:accent3>
        <a:srgbClr val="E0A22B"/>
      </a:accent3>
      <a:accent4>
        <a:srgbClr val="E06B5A"/>
      </a:accent4>
      <a:accent5>
        <a:srgbClr val="8B6DC4"/>
      </a:accent5>
      <a:accent6>
        <a:srgbClr val="6FAE4A"/>
      </a:accent6>
      <a:hlink>
        <a:srgbClr val="0A5C50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